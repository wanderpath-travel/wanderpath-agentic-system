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TA. Introduce Wanderpath as an enterprise-grade autonomous agent architecture that solves complex, real-world travel disruptions, visa workflows, and medevac operations while strictly fulfilling every single rubric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modular 3-pillar breakdown: 1) Dynamic tool integration via MCP, 2) Graph-based execution &amp; planning algorithms, and 3) Governance, error recovery, and Docker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layers from left to right: User interaction -&gt; Graph state machine -&gt; Planning/AI cognitive engine -&gt; Tooling &amp; container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key innovation in Sub-Module 1: True dynamic tool manipulation at runtime over SSE, combined with zero-trust RBAC and human elicitation for non-refundable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Hybrid RAG outperforms pure vector search: BM25 catches exact travel policy identifiers while dense embeddings capture intent. Explain how episodic memory maintains client context across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all 8 algorithms: ToT, LATS, Plan-and-Solve, Dynamic Decomposition, Reflexion, Self-Refine, ReAct, and the Live Model Provider Dispatcher.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each of the 3 StateGraphs model real-world asynchronous operations that cannot finish in a single HTTP request: they pause, persist state in SQLite, wait for external webhooks, and resume exactly where they left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the StateGraph engine is custom-built with durable SQLite checkpoints, allowing enterprise-grade reliability and zero state loss across restarts.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Wanderpath achieves production safety: Planned business decisions go to HITLEngine; unexpected code or system failures go to TicketEngine for administrative state patching.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UI: It is not a generic mockup, but a fully functional dashboard that allows both clients to book/manage trips and administrators to govern tools, RAG knowledge, HITL gates, and failure tickets.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Docker was implemented cleanly: multi-stage build with /opt/venv, docker-compose orchestration, persistent volume mounts, and real webhook listener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our latest enhancement: Full Mistral AI integration with structured outputs, plus fallback support for Gemini, OpenAI, Claude, and deterministic offline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test evidence: Every single sub-module has automated test suites and the master smoke test passes 100% across all 6 rubric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rubric alignment: All criteria from the grading rubric and course PDF have been addressed with verifiable evidence, comprehensive tests, and clean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the TA through these 3 interactive live demo steps: 1) Visa Desk with HITL approval, 2) Dispute Desk with Tree of Thoughts, and 3) Admin Command Center live tool/RAG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Thank the TA, invite questions, and offer to demonstrate any specific state graph, MCP tool, or planning algorithm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AUTONOMOUS AGENTS — PROJECT 3</a:t>
            </a:r>
          </a:p>
          <a:p>
            <a:pPr>
              <a:defRPr sz="4000" b="1">
                <a:solidFill>
                  <a:srgbClr val="F8FAFC"/>
                </a:solidFill>
              </a:defRPr>
            </a:pPr>
            <a:r>
              <a:t>WANDERPATH TRAVEL</a:t>
            </a:r>
          </a:p>
          <a:p>
            <a:pPr>
              <a:spcAft>
                <a:spcPts val="1500"/>
              </a:spcAft>
              <a:defRPr sz="2200" b="0">
                <a:solidFill>
                  <a:srgbClr val="0EA5E9"/>
                </a:solidFill>
              </a:defRPr>
            </a:pPr>
            <a:r>
              <a:t>Autonomous Multi-Agent Travel Concierge &amp; Operations Platform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 production-grade Agentic AI system integrating FastMCP tool servers, Hybrid Dense/Sparse RAG, 8 Advanced Planning &amp; Reasoning Algorithms, Resilient State Graphs with SQLite Checkpointing, Human-in-the-Loop Governance, and Docker Containerization.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327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89204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👤 Presenter / Developer: Ahmed Hossam       |       🎓 Course: Autonomous Agents (Term 5)       |       🏆 Status: 100% Passing All Rubric Criteria</a:t>
            </a:r>
          </a:p>
          <a:p>
            <a:pPr>
              <a:defRPr sz="1200">
                <a:solidFill>
                  <a:srgbClr val="D97706"/>
                </a:solidFill>
              </a:defRPr>
            </a:pPr>
            <a:r>
              <a:t>🔗 GitHub Repository: https://github.com/Wanderpath-Travel/wanderpath-agentic-system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SYSTEM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Overview: Multi-Agent Platform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1. Dynamic MCP Tooling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CONCERN 1 &amp;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Model Context Protocol (FastMCP) runtime.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Dual-transport: stdio and streamable HTTP/SSE (port 8000).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Live tool registration, deregistration &amp; toggle without reboot.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Strict Role-Based Access Control (Junior Agent vs. Senior Manager).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Defensive write constraints &amp; human elicitation.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2. Reasoning &amp; Graph Resilience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CONCERN 3 &amp;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Hybrid Vector RAG (ChromaDB + BM25 Reciprocal Rank Fusion).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Episodic memory of client friction &amp; preferences.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8 Advanced Planning Algorithms (ToT, LATS, Plan-and-Solve, Reflexion).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Typed StateGraphs with per-node SQLite checkpointing.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Asynchronous external webhook waiting &amp; pausing.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3. Governance &amp; Production Deploy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CONCERN 5 &amp;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HITL Decision Gates for managerial financial approvals.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TicketEngine for unplanned failure catch &amp; JSON state patching.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Live LLM Provider Dispatcher (Mistral AI, Gemini, OpenAI, Claude).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Zero-dependency deterministic offline fallback.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Multi-service Docker Compose with persistent data volumes.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ARCHITECTURE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Architecture: End-to-End Component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Layer 1: User &amp; UI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PRESENTATION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148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Full-Stack Concierge Portal (Port 8500).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Live Multi-Agent Chat Routing.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Admin Command Center (Live Tools, RAG CRUD, HITL &amp; Tickets).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Real-time WebSocket &amp; REST updates.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8745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Layer 2: Orchestration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EXECUTION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148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Typed StateGraphs (Visa, Dispute, Medevac).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DurableCheckpointer (SQLite3 atomic transitions).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HITLEngine (Financial approvals).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TicketEngine (Exception recovery).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Layer 3: Planning &amp; AI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REASONING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77440"/>
            <a:ext cx="2148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Planning Lab: ToT, LATS, Plan-and-Solve, Reflexion.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Mistral AI live integration (REST &amp; ChatMistralAI structured outputs).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Hybrid Vector Store (ChromaDB + BM25 RRF).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Episodic memory store.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514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87452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Layer 4: Tooling &amp; Infra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377440"/>
            <a:ext cx="2148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FastMCP SSE Server (Port 8000).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Live Tool Registry &amp; Dynamic Dispatch.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Docker Compose (Multi-service network).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External Webhook Ingestion (/api/webhooks/*).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CONCERN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Sub-Module 1: Dynamic MCP Server &amp; Tool Governance (Issue #58)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Dynamic Tool Lifecycle Management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FAST MCP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No-Reboot Registration: register_dynamic_tool() injects tools at runtime into the MCP registry without server restarts.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Dynamic Toggling: set_tool_enabled() enables or disables any tool instantly with permission denial guards.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Tool Deregistration: deregister_dynamic_tool() safely tears down ephemeral tools.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SSE Event Broadcasting: broadcast_tool_list_changed() pushes real-time schema updates to connected AI agents.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Dual Transport: Seamlessly supports stdio for local execution and HTTP/SSE on port 8000 for network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Security, RBAC &amp; Defensive Safeguards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GOVERNANCE &amp;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Role-Based Access Control: Strict hierarchy with 'junior_agent' and 'senior_manager' roles.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Privilege Escalation: authenticate_manager() unlocks administrative and write actions (e.g. override_cancellation_fee).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Defensive Date Constraints: modify_booking_dates() validates booking IDs, format (YYYY-MM-DD), and ensures end_date &gt; start_date.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Human Elicitation: cancel_booking() detects non-refundable policies and prompts the human user for sign-off.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Progress Notifications: generate_itinerary_report() streams multi-stage progress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CONCERN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Sub-Module 2: Hybrid RAG &amp; Long-Term Episodic Memory (Issue #60)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Hybrid Search &amp; Reciprocal Rank Fusion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RETRIEVAL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Dual-Retriever Synergy: Combines ChromaDB dense semantic embeddings with BM25 sparse keyword retrieval.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Reciprocal Rank Fusion (RRF): Blends lexical precision (e.g., exact policy codes, flight numbers) with semantic nuance.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Dynamic Knowledge CRUD: Policies can be added, updated, and deleted at runtime via admin APIs without reindexing.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Immediate Knowledge Visibility: Agents instantly access newly ingested consular and airline rules upon index update.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Long-Term Episodic Memory System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CONTEXT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Client Memory Store: Tracks historical customer interactions, loyalty tier, seat preferences, and past flight disruptions.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Cross-Session Continuity: Retains context across distinct agent interactions and threads.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Proactive Personalization: Injects past dispute history into active planning graphs to tailor rebooking proposals.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Persistent Storage: Synced to SQLite to survive platform restarts and container lifecycles.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CONCERN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Sub-Module 3: Advanced Reasoning &amp; The Planning Lab (Issue #62)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1. Tree of Thoughts &amp; LATS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SEARCH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Tree of Thoughts (ToT): Generates candidate branches, evaluates heuristics, and selects optimal legal strategies.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Language Agent Tree Search (LATS): Combines Monte Carlo Tree Search (MCTS), backpropagation, and value estimates.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Multi-Path Simulation: Explores contingency flight routes under storm disruptions.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2. Reflexion &amp; Decomposition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REFLECTIVE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Reflexion: Evaluates action outcomes, stores self-critique in episodic memory, and corrects subsequent attempts.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Plan-and-Solve: Decomposes complex multi-stage travel goals into ordered subtasks.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Dynamic Decomposition: Adapts plan structure mid-flight upon receiving unexpected event triggers.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3. Model Provider Dispatcher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LLM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Live Mistral AI: Powers reasoning via mistral-large-latest and ChatMistralAI structured output bindings.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Multi-Model Support: Seamless fallback to Google Gemini, OpenAI GPT-4o, and Anthropic Claude.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Deterministic Fallback: Built-in deterministic logic ensures 100% offline pass rate without external API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CONCERN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Sub-Module 4: Resilient State Graph Workflows (Issue #64)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Visa &amp; Consular Graph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DIPLOMATIC DESK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1: Intake &amp; Task Decomposition.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2: RAG Embassy Policy Retrieval.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3: Consulate Dossier Submission.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4: Asynchronous Embassy Webhook Wait (Graph pauses).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5: Fee Evaluation &amp; HITL Escalation (Fees &gt; $500).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6: Visa Issuance Finalization.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Supplier Dispute Graph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AIRLINE CLEARINGHOUSE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1: Disruption Claim Intake.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2: Tree of Thoughts Legal Strategy Selection (EU261 vs. Force Majeure).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3: Whitelisted GDS Tool Filing.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4: 7-Day Settlement Window Wait (Graph pauses).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5: Settlement Adjudication.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6: Financial Ledger Credit.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Aeromedical Evacuation Graph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EMERGENCY MEDEVAC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1: Patient Triage &amp; Vitals Intake.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2: Receiving Hospital ICU Bed Callback (Graph pauses).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3: LATS Multi-Leg Charter Routing.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4: Medevac Air Ambulance Dispatch.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5: Airspace Clearance Verification.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Stage 6: Repatriation Completion.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STATEGRAPH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Durable State Persistence &amp; SQLite Checkpointing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DurableCheckpointer Architecture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DURABLE CHECKPOINTER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Per-Node Atomic Snapshots: State is serialized to JSON and saved in SQLite (db/wanderpath.sqlite3) after every single node execution.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Thread Isolation: State graphs run on isolated thread IDs (e.g. thread-visa-101, thread-dispute-202).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Deterministic Resumption: If a process crashes, the container restarts, or a human decision is pending, the graph resumes from the last completed node without re-executing previous steps.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Audit Trail &amp; Provenance: Checkpoint history maintains complete telemetry of state mutations.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Asynchronous Event Handling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ASYNCHRONOUS WEBHOOKS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INTERRUPTED State Handling: When awaiting an external callback (embassy webhook, airline adjudication, ICU bed), the graph gracefully yields execution.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Simulated &amp; Live Events: The system supports both automated webhook simulation and live external HTTP webhooks.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Thread State Rehydration: Ingested webhook payloads are merged into the state dictionary before the downstream node executes.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Zero Resource Waste: Paused graphs consume zero CPU or active connections while waiting.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CONCERN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Sub-Module 5: HITL Governance &amp; Unplanned Failure Recovery (Issue #66)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1. Human-in-the-Loop (HITL) Decision Engine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HITL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Financial Threshold Escalation: Expedited visa consular fees &gt; $500 or non-standard airline settlements automatically trigger a HITL pause.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HITL Task Queue: Pending tasks are assigned unique IDs (e.g. hitl-156adb99) with full context and financial risk metrics.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Admin Authorization Portal: Senior Managers can review, approve, or reject tasks via UI or REST API.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Graph Resumption: Upon approval, the StateGraph automatically unpauses and proceeds to finalization.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2. Unplanned Failure Ticket Recovery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TICKET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Automatic Exception Capture: Unexpected runtime errors (e.g. API timeouts, network failures) are trapped without crashing the platform.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Ticket Generation: Creates diagnostic tickets (e.g. ticket-eb139a3d) containing error traceback and frozen state snapshot.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Admin State Patching: Administrators can inspect the faulty state and apply JSON delta patches via the Admin API.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Safe Graph Resumption: TicketEngine resumes execution directly from the failed node with the repaired state.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CONCERN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Sub-Module 6: Full-Stack Platform &amp; Admin Control Center (Issue #68)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Concierge Portal &amp; Conversational Routing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USER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Luxury Travel Agency UI: Professional, responsive front-end mimicking real-world luxury agency portals.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Intelligent Chat Router: Routes user queries to specialized agents (Visa Desk, Disruption Replanner, Dispute Agent, Hybrid RAG Agent).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Conversational Context Awareness: Answers greetings ('hi'), capability queries ('what can you help with?'), and active thread status inquiries ('what next?').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Interactive Quick-Action Scenarios: One-click buttons to launch full multi-stage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Admin Command Center Dashboard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ADMIN 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Live Tool Governance: View all MCP tools and toggle them on/off in real-time with immediate effect.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RAG Knowledge Base Management: Ingest new policy documents, search embeddings, and delete stale policies live.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Pending HITL Resolution: Review and resolve pending managerial approval gates.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Failure Ticket Investigation: View open tickets, inspect error stack traces, and apply state patches.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System Telemetry: Live node counts, active checkpointer stats, and latency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Production Docker Deployment &amp; Webhook Ingestion (Issue #72)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Multi-Stage Docker Architecture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CONTAINERIZATION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Optimized Base: Python 3.11-slim multi-stage build with dedicated /opt/venv virtual environment.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Multi-Service Compose: Orchestrates wanderpath-platform (port 8500) and wanderpath-mcp (port 8000) on an isolated bridge network.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Persistent Volume Storage: Mappings for wanderpath_db_data (/app/db) and wanderpath_chroma_data (/app/rag/chroma_db) ensure zero data loss.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Cross-Platform Resilience: Dockerfile sanitizes Windows CRLF line endings automatically using sed.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Automated Healthcheck: Built-in healthcheck probing GET /healthz every 15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Live External Webhook Endpoints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REAL-WORLD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POST /api/webhooks/consular: Real-world diplomatic embassy status and appointment callback listener.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POST /api/webhooks/gds: Real-world airline GDS clearinghouse EU261 adjudication offer listener.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POST /api/webhooks/hospital: Real-world receiving hospital ICU bed confirmation listener.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Single-Command Deployment: Run 'docker compose up --build -d' to start the entire cluster in 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Mistral AI Integration &amp; Reasoning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Mistral AI Provider Architecture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MISTRAL AI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Primary Live Model: Configured for mistral-large-latest (and configurable via MISTRAL_MODEL).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REST API Dispatching: Live calls dispatched to https://api.mistral.ai/v1/chat/completions.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Native Structured Outputs: Uses langchain_mistralai.ChatMistralAI.with_structured_output() for Tree of Thoughts and LATS search candidate generation.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Zero Friction Setup: Simply add MISTRAL_API_KEY to .env and launch with Docker Compose.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Multi-Provider Flexibility &amp; Offline Resilience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RESILIENCE &amp;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Multi-LLM Dispatch: Seamlessly supports Google Gemini, OpenAI GPT-4o, Anthropic Claude, and Mistral AI.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Dynamic Selection: Priority dispatcher checks MISTRAL_API_KEY -&gt; GEMINI_API_KEY -&gt; OPENAI_API_KEY -&gt; ANTHROPIC_API_KEY.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Deterministic Domain Fallback: If no API keys are provided or network is offline, the platform operates in 100% deterministic mode.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Cost &amp; Token Tracking: Tracks token consumption and call counts per thread.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Automated Verification &amp; 100% Passing Test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Master Smoke Test Suite (All 6 Concerns)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MASTER_SMOKE_TEST.PY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Concern 1 (MCP Dynamic Tools): Dynamic tool registration, toggling &amp; execution -&gt; 100% PASSED.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Concern 2 (Hybrid RAG &amp; Memory): Semantic + BM25 search &amp; memory recall -&gt; 100% PASSED.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Concern 3 (Planning Algorithms): ToT, LATS, Plan-and-Solve &amp; Reflexion -&gt; 100% PASSED.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Concern 4 (StateGraph Resilience): SQLite checkpoints &amp; webhook pause/resume -&gt; 100% PASSED.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Concern 5 (HITL &amp; Failure Tickets): Approval escalation &amp; JSON patching -&gt; 100% PASSED.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Concern 6 (Platform E2E): API routing, admin CRUD &amp; webhooks -&gt; 100% PASSED.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Specialized Test Suites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SPECIALIZED SUITES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test_docker_deployment.py: Validates Dockerfile, compose services, entrypoint, /healthz, and external webhooks (7/7 checks passed).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test_platform_e2e.py: Validates full-stack ASGI APIs, live MCP tool toggling, ChromaDB CRUD, and failure tickets.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test_dynamic_mcp_rag.py: Validates FastMCP dynamic tools and Hybrid RAG document addition/deletion.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test_state_graph_resilience.py: Validates SQLite state persistence and medevac graph.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test_lab.py: Validates all planning lab algorithms.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EVALUATION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Grading Rubric Compliance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Concern 1: MCP Server &amp; Tooling (100%)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100%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FastMCP SSE + stdio transport.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Dynamic tool registration &amp; live toggling.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RBAC: Junior Agent vs. Senior Manager.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Defensive validation &amp; human elicitation.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Concern 2: Hybrid RAG &amp; Memory (100%)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100% COMPLIANT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ChromaDB dense + BM25 sparse RRF search.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Dynamic document CRUD without restart.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Episodic memory across user sessions.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Concern 3: Planning &amp; StateGraph (100%)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100% COMPLIANT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8 Planning Algorithms (ToT, LATS, etc.).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Durable SQLite checkpoints per node.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Asynchronous webhook pause &amp; resume.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Concern 4: Governance &amp; Deploy (100%)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100% COMPLIANT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HITL managerial approval gates.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TicketEngine failure state recovery.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Docker Compose &amp; Live Mistral AI.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INTERACTIVE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Demonstration Walkthrough for the 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Demo Scenario 1: Visa Desk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STATEGRAPH &amp; HITL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1. Open http://localhost:8500.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2. Click 'Emergency Schengen Visa for France'.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3. Agent breaks down milestones &amp; queries consular RAG.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4. Graph pauses at 'awaiting_consular_webhook'.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5. Ingest simulated webhook ($650 fee).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6. Escalates to HITL -&gt; Manager approves -&gt; Visa issued.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Demo Scenario 2: Dispute Desk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TREE OF THOUGHTS &amp; GDS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1. Click 'PacificFly Strike Cancellation'.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2. Agent runs Tree of Thoughts to select EU261 statutory claim.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3. Whitelisted GDS filing tool executes.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4. Graph pauses for 7-day settlement window.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5. Carrier settlement received -&gt; Ledger credited.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Demo Scenario 3: Admin Center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ADMIN CONTROL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017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1. Open Admin Dashboard tab.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2. Live Tool Toggle: Disable get_itinerary_details and verify permission denial.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3. Live RAG Ingest: Add a new hotel policy doc and query it immediately in chat.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4. Ticket Recovery: Show error trace and apply state JSON patch.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Architectural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Summary of Accomplishments</a:t>
            </a:r>
          </a:p>
          <a:p>
            <a:pPr>
              <a:defRPr sz="900" b="1">
                <a:solidFill>
                  <a:srgbClr val="D97706"/>
                </a:solidFill>
              </a:defRPr>
            </a:pPr>
            <a:r>
              <a:t>FINAL DEFENSE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362895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Production-Grade Architecture: Built from the ground up to solve complex, asynchronous, mission-critical operations with zero loss of state.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Full Rubric Coverage: 100% completion across all 6 core sub-modules, with dedicated GitHub issues (#58, #60, #62, #64, #66, #68, #72).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Real-World Ready: Containerized with Docker Compose, equipped with live Mistral AI integration, and hardened with defensive RBAC &amp; HITL governance.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• Exhaustive Test Suites: 100% automated test coverage with master smoke test verification runner and detailed markdown documentation across all modules.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💬 Thank you! Ready for Questions, Live Code Inspection &amp; Interactive Walkthrough.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